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109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28507" y="2638214"/>
            <a:ext cx="882396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Dubai Property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2926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ML Pipeline on Dubai Land Department 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– Applied Machine Learning  | 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06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</a:t>
            </a:r>
            <a:r>
              <a:rPr lang="en-US" sz="1200" b="1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actual_worth</a:t>
            </a: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(transaction selling price) from raw Dubai Land Department records, enriched with rental-market and hotel-sector context.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 is driven by structural attributes, location, and market context — not size alone. Tree-based ensembles should outperform linear baselines due to non-linearity and interactions.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58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DLD Transaction Records (5,000 rows, 47 cols) — master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DLD Rental Contracts — area-time enrichment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UAE Hotel Statistics — annual macro context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389888"/>
            <a:ext cx="384048" cy="411480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937760" y="138988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76672" y="14264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048256"/>
            <a:ext cx="384048" cy="411480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4937760" y="204825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76672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706624"/>
            <a:ext cx="384048" cy="4114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4937760" y="270662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76672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Tuning (≥3 models, 2 tuned)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3364992"/>
            <a:ext cx="384048" cy="4114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4937760" y="336499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76672" y="3401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 &amp; Error Analysis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4023360"/>
            <a:ext cx="384048" cy="41148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4937760" y="40233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40599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Data-Driven Storytelling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6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raw data landscape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Quality Issues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6B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920240" cy="64008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365760" y="97840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464869"/>
            <a:ext cx="17373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841248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6B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2450592" y="841248"/>
            <a:ext cx="1920240" cy="64008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2542032" y="97840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1464869"/>
            <a:ext cx="17373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841248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4626864" y="841248"/>
            <a:ext cx="1920240" cy="6400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718304" y="97840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18304" y="1464869"/>
            <a:ext cx="17373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rows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841248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6803136" y="841248"/>
            <a:ext cx="1920240" cy="6400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6894576" y="97840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94576" y="1464869"/>
            <a:ext cx="17373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merged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993392"/>
            <a:ext cx="4160520" cy="2852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457200" y="20848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24505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actual_worth is strongly right-skewed with major outliers — supports log-target testing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29077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meter_sale_price identified as leakage risk — excluded from all features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33649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Rental/project fields are useful but sparse; area_id is the most reliable join anchor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38221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data suitable only as annual macro context (no neighborhood-level join)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2793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numerical, categorical, temporal, and multilingual columns requiring careful encoding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1993392"/>
            <a:ext cx="4160520" cy="2852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484632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Distribution: actual_worth</a:t>
            </a:r>
            <a:endParaRPr lang="en-US" sz="12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2395728"/>
            <a:ext cx="3977640" cy="23317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Join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2120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Feasibility Analysis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98448"/>
            <a:ext cx="502920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868680"/>
            <a:ext cx="32004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580644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Strategy Decisions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06440" y="1353312"/>
            <a:ext cx="960120" cy="2743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5806440" y="13533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overlap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12280" y="13716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area_id &amp; area_name_en — primary join keys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2048256"/>
            <a:ext cx="9601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1"/>
          <p:cNvSpPr/>
          <p:nvPr/>
        </p:nvSpPr>
        <p:spPr>
          <a:xfrm>
            <a:off x="5806440" y="20482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overlap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12280" y="206654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Project-name joins unreliable — avoided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06440" y="2743200"/>
            <a:ext cx="960120" cy="2743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5806440" y="2743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only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12280" y="276148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data joined at year level — macro signal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806440" y="3438144"/>
            <a:ext cx="960120" cy="274320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7"/>
          <p:cNvSpPr/>
          <p:nvPr/>
        </p:nvSpPr>
        <p:spPr>
          <a:xfrm>
            <a:off x="5806440" y="34381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12280" y="34564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features aggregated before transaction date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06440" y="4133088"/>
            <a:ext cx="960120" cy="27432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0"/>
          <p:cNvSpPr/>
          <p:nvPr/>
        </p:nvSpPr>
        <p:spPr>
          <a:xfrm>
            <a:off x="5806440" y="4133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12280" y="415137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for numerical, mode for categorical missing vals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6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Engineering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leak-free, model-ready feature set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73152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411480" y="9784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median imputation within HistGradientBoosting's native NaN support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mode imputation + 'Unknown' fill for sparse fields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preserves distribution without distortion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16052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11480" y="28529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200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models: OrdinalEncoder (integer codes, HGB splits natively)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models: OneHotEncoder(handle_unknown='infrequent_if_exist', min_frequency=15)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931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Arabic/multilingual text columns: dropped before encoding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86868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4709160" y="868680"/>
            <a:ext cx="4160520" cy="7315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4846320" y="9784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Scaling &amp; Leakage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for Ridge/SVM pipelines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6916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models: no scaling required (native)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057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meter_sale_price excluded — direct price proxy (leakage)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74320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Shape 22"/>
          <p:cNvSpPr/>
          <p:nvPr/>
        </p:nvSpPr>
        <p:spPr>
          <a:xfrm>
            <a:off x="4709160" y="2743200"/>
            <a:ext cx="4160520" cy="73152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846320" y="28529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area_time rental aggregates: median rent by area + year window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5661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hotel macro features joined at transaction year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931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features: month, quarter, year-of-transaction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6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Hyperparameter Tuning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comparison of 5 algorithms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Lineup &amp; Train/Validation/Test Split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(no random shuffle — preserves time order to prevent leakage)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606040" cy="29260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3,500 rows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1994-07-13 → 2024-03-26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07008"/>
            <a:ext cx="2606040" cy="292608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291840" y="12070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750 rows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517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2024-03-27 → 2025-05-07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07008"/>
            <a:ext cx="2606040" cy="29260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126480" y="12070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750 rows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517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2025-05-07 → 2026-03-23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65960"/>
            <a:ext cx="8595360" cy="33832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320040" y="19933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1993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19933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Parameters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43800" y="1993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1993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365760" y="2395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Baseline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23957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Zero-rule baseline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23957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0" y="239572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83880" y="239572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2852928"/>
            <a:ext cx="8595360" cy="50292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1720" y="2916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L2-penalised linear model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17720" y="291693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alpha, solver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98080" y="29169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83880" y="291693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3374136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365760" y="34381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31720" y="34381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kernel (LinearSVR/LinearSVC)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17720" y="343814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343814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83880" y="343814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4320" y="3895344"/>
            <a:ext cx="8595360" cy="50292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274320" y="3895344"/>
            <a:ext cx="54864" cy="5029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365760" y="3959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31720" y="39593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of decision trees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617720" y="39593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n_estimators, max_depth, max_features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98080" y="395935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183880" y="39593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4416552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Shape 46"/>
          <p:cNvSpPr/>
          <p:nvPr/>
        </p:nvSpPr>
        <p:spPr>
          <a:xfrm>
            <a:off x="274320" y="4416552"/>
            <a:ext cx="54864" cy="502920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9" name="Text 47"/>
          <p:cNvSpPr/>
          <p:nvPr/>
        </p:nvSpPr>
        <p:spPr>
          <a:xfrm>
            <a:off x="365760" y="4480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331720" y="4480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Native-NaN gradient boosting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617720" y="44805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max_depth, max_leaf_nodes, min_samples_leaf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98080" y="44805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183880" y="44805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Details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411480" y="9509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Tuning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(CV score: −130,900,305)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n_estimators: 550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56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min_samples_split: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min_samples_leaf: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max_features: 1.0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max_depth: 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53512"/>
            <a:ext cx="37947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11480" y="30358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 ★ Best (CV: −130,608,864)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328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learning_rate: 0.08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75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max_depth: 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822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max_iter: 250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069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max_leaf_nodes: 15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min_samples_leaf: 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5628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l2_regularization: 0.0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4846320" y="9509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Tuning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13167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(CV AUC: 0.9292)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16093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n_estimators: 400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1856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min_samples_split: 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103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min_samples_leaf: 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3500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max_features: 0.5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2596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max_depth: 20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953512"/>
            <a:ext cx="37947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4846320" y="30358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 ★ Best (CV AUC: 0.9309)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3328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learning_rate: 0.03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575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max_depth: None (unlimited)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3822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max_iter: 500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069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max_leaf_nodes: 15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43159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min_samples_leaf: 40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45628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l2_regularization: 0.0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method: Randomized Search CV (5 folds, neg_RMSE / ROC-AUC scoring)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6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classification performance analysis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Results — Predicting actual_worth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8463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(Test RMSE)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466344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0" y="868680"/>
            <a:ext cx="35661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5440680" y="932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Metrics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49240" y="1252728"/>
            <a:ext cx="3429000" cy="3200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5394960" y="12710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12710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68312" y="12710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74152" y="12710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1591056"/>
            <a:ext cx="34290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5413248" y="170078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170078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13,588,574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40880" y="17007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2,745,713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01000" y="170078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49240" y="2231136"/>
            <a:ext cx="3429000" cy="612648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8"/>
          <p:cNvSpPr/>
          <p:nvPr/>
        </p:nvSpPr>
        <p:spPr>
          <a:xfrm>
            <a:off x="5413248" y="234086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234086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10,515,760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40880" y="23408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1,654,041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01000" y="234086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49240" y="2871216"/>
            <a:ext cx="34290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3"/>
          <p:cNvSpPr/>
          <p:nvPr/>
        </p:nvSpPr>
        <p:spPr>
          <a:xfrm>
            <a:off x="5413248" y="29809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63640" y="29809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10,159,923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040880" y="298094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1,589,670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001000" y="298094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0.424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349240" y="3511296"/>
            <a:ext cx="3429000" cy="612648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8"/>
          <p:cNvSpPr/>
          <p:nvPr/>
        </p:nvSpPr>
        <p:spPr>
          <a:xfrm>
            <a:off x="5413248" y="36210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63640" y="36210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11,200,241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40880" y="36210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1,651,601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001000" y="36210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349240" y="4151376"/>
            <a:ext cx="3429000" cy="612648"/>
          </a:xfrm>
          <a:prstGeom prst="rect">
            <a:avLst/>
          </a:prstGeom>
          <a:solidFill>
            <a:srgbClr val="E6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Shape 33"/>
          <p:cNvSpPr/>
          <p:nvPr/>
        </p:nvSpPr>
        <p:spPr>
          <a:xfrm>
            <a:off x="5349240" y="4151376"/>
            <a:ext cx="64008" cy="612648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Text 34"/>
          <p:cNvSpPr/>
          <p:nvPr/>
        </p:nvSpPr>
        <p:spPr>
          <a:xfrm>
            <a:off x="5413248" y="42611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HGB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263640" y="42611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8,965,434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040880" y="426110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1,394,205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001000" y="426110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349240" y="463600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 (HGB RMSE): 2,791,517 – 14,764,561  |  R²: 0.526 – 0.707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Diagnostics — HistGradientBoosting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397764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4892040" y="932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Plot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234440"/>
            <a:ext cx="3977640" cy="3337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 — is_high_value (≥ AED 2.4M)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8463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(ROC AUC)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466344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0" y="868680"/>
            <a:ext cx="35661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5440680" y="932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Metrics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49240" y="1252728"/>
            <a:ext cx="3429000" cy="3200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5394960" y="12710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1271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95160" y="1271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26680" y="1271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1591056"/>
            <a:ext cx="34290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5413248" y="170078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17007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0.639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49440" y="17007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80960" y="170078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49240" y="2231136"/>
            <a:ext cx="3429000" cy="612648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8"/>
          <p:cNvSpPr/>
          <p:nvPr/>
        </p:nvSpPr>
        <p:spPr>
          <a:xfrm>
            <a:off x="5413248" y="234086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23408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49440" y="23408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680960" y="234086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0.946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49240" y="2871216"/>
            <a:ext cx="34290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3"/>
          <p:cNvSpPr/>
          <p:nvPr/>
        </p:nvSpPr>
        <p:spPr>
          <a:xfrm>
            <a:off x="5413248" y="29809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63640" y="29809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49440" y="29809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680960" y="29809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349240" y="3511296"/>
            <a:ext cx="3429000" cy="612648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8"/>
          <p:cNvSpPr/>
          <p:nvPr/>
        </p:nvSpPr>
        <p:spPr>
          <a:xfrm>
            <a:off x="5413248" y="36210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Rand. Forest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63640" y="36210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949440" y="36210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680960" y="36210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0.946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349240" y="4151376"/>
            <a:ext cx="3429000" cy="612648"/>
          </a:xfrm>
          <a:prstGeom prst="rect">
            <a:avLst/>
          </a:prstGeom>
          <a:solidFill>
            <a:srgbClr val="FFF8E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Shape 33"/>
          <p:cNvSpPr/>
          <p:nvPr/>
        </p:nvSpPr>
        <p:spPr>
          <a:xfrm>
            <a:off x="5349240" y="4151376"/>
            <a:ext cx="64008" cy="61264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Text 34"/>
          <p:cNvSpPr/>
          <p:nvPr/>
        </p:nvSpPr>
        <p:spPr>
          <a:xfrm>
            <a:off x="5413248" y="42611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HGB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263640" y="426110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949440" y="426110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680960" y="42611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349240" y="463600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 (HGB ROC AUC): 0.942 – 0.967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Diagnostics — HistGradientBoosting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(AUC = 0.9557)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397764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4892040" y="932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234440"/>
            <a:ext cx="3977640" cy="3337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Permutation Analysis (HGB)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Feature Importance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234440"/>
            <a:ext cx="406908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4892040" y="932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Feature Importance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234440"/>
            <a:ext cx="4069080" cy="3337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6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Error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the models struggle — and why?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Error Analysis — Value Band &amp; Temporal Drift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8463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by Transaction Value Band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466344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0" y="868680"/>
            <a:ext cx="35661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5440680" y="9326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Band Summary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49240" y="1252728"/>
            <a:ext cx="3429000" cy="29260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5376672" y="127101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44768" y="127101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40880" y="127101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927848" y="127101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1572768"/>
            <a:ext cx="34290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3"/>
          <p:cNvSpPr/>
          <p:nvPr/>
        </p:nvSpPr>
        <p:spPr>
          <a:xfrm>
            <a:off x="5349240" y="1572768"/>
            <a:ext cx="64008" cy="539496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5422392" y="16642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Low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44768" y="1664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&lt;AED 930K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040880" y="16642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198,167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927848" y="166420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49240" y="2139696"/>
            <a:ext cx="3429000" cy="539496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hape 19"/>
          <p:cNvSpPr/>
          <p:nvPr/>
        </p:nvSpPr>
        <p:spPr>
          <a:xfrm>
            <a:off x="5349240" y="2139696"/>
            <a:ext cx="64008" cy="539496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0"/>
          <p:cNvSpPr/>
          <p:nvPr/>
        </p:nvSpPr>
        <p:spPr>
          <a:xfrm>
            <a:off x="5422392" y="22311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Mid-Low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44768" y="2231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~AED 1.3M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040880" y="223113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253,681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927848" y="22311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349240" y="2706624"/>
            <a:ext cx="34290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hape 25"/>
          <p:cNvSpPr/>
          <p:nvPr/>
        </p:nvSpPr>
        <p:spPr>
          <a:xfrm>
            <a:off x="5349240" y="2706624"/>
            <a:ext cx="64008" cy="53949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Text 26"/>
          <p:cNvSpPr/>
          <p:nvPr/>
        </p:nvSpPr>
        <p:spPr>
          <a:xfrm>
            <a:off x="5422392" y="279806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Mid-High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144768" y="27980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~AED 2.4M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040880" y="27980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451,601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927848" y="27980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3429000" cy="539496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hape 31"/>
          <p:cNvSpPr/>
          <p:nvPr/>
        </p:nvSpPr>
        <p:spPr>
          <a:xfrm>
            <a:off x="5349240" y="3273552"/>
            <a:ext cx="64008" cy="5394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5" name="Text 32"/>
          <p:cNvSpPr/>
          <p:nvPr/>
        </p:nvSpPr>
        <p:spPr>
          <a:xfrm>
            <a:off x="5422392" y="33649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High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44768" y="33649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&gt;AED 4M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040880" y="336499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4,662,290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927848" y="336499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26.0%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349240" y="3886200"/>
            <a:ext cx="3429000" cy="914400"/>
          </a:xfrm>
          <a:prstGeom prst="rect">
            <a:avLst/>
          </a:prstGeom>
          <a:solidFill>
            <a:srgbClr val="FFF3CD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Text 37"/>
          <p:cNvSpPr/>
          <p:nvPr/>
        </p:nvSpPr>
        <p:spPr>
          <a:xfrm>
            <a:off x="5440680" y="391363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 Insight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40680" y="413308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luxury segment has 23× higher MAE than typical transactions. Average metrics alone understate model limitations for rare, high-value deals.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Stability &amp; Subgroup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MAE by Year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3977640" cy="1325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288036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457200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Precision–Recall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3218688"/>
            <a:ext cx="3977640" cy="13533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09160" y="86868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Text 8"/>
          <p:cNvSpPr/>
          <p:nvPr/>
        </p:nvSpPr>
        <p:spPr>
          <a:xfrm>
            <a:off x="4892040" y="932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by Year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00600" y="1234440"/>
            <a:ext cx="3977640" cy="1325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09160" y="288036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Text 10"/>
          <p:cNvSpPr/>
          <p:nvPr/>
        </p:nvSpPr>
        <p:spPr>
          <a:xfrm>
            <a:off x="4892040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Calibration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00600" y="3218688"/>
            <a:ext cx="3977640" cy="1353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6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Data Story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Dubai property data reveals about value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Model Robustness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Generalization Gap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977640" cy="27432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93192" y="12710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07008" y="12710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RMSE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31720" y="12710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0" y="12710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Improve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3977640" cy="457200"/>
          </a:xfrm>
          <a:prstGeom prst="rect">
            <a:avLst/>
          </a:prstGeom>
          <a:solidFill>
            <a:srgbClr val="E6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93192" y="16276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07008" y="16276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31,736,108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31720" y="16276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8,965,434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6276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+0.397 R²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39112"/>
            <a:ext cx="3977640" cy="45720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393192" y="21122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07008" y="21122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31,575,577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31720" y="211226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10,515,760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21122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+0.220 R²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523744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393192" y="25968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07008" y="25968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30,751,940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31720" y="25968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10,159,923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0" y="25968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+0.218 R²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008376"/>
            <a:ext cx="3977640" cy="45720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393192" y="30815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Rand. Forest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30815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31,579,941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31720" y="30815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11,200,241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91840" y="308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+0.137 R²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611880"/>
            <a:ext cx="3977640" cy="1097280"/>
          </a:xfrm>
          <a:prstGeom prst="rect">
            <a:avLst/>
          </a:prstGeom>
          <a:solidFill>
            <a:srgbClr val="E9F7EF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457200" y="37033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Positive generalization for all models on test set — HGB improves most (+0.40 R²). No overfitting to validation period.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4892040" y="932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Generalization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4828032" y="127101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87568" y="127101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10528" y="127101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69480" y="127101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882128" y="127101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1554480"/>
            <a:ext cx="3977640" cy="457200"/>
          </a:xfrm>
          <a:prstGeom prst="rect">
            <a:avLst/>
          </a:prstGeom>
          <a:solidFill>
            <a:srgbClr val="FFF8E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Text 41"/>
          <p:cNvSpPr/>
          <p:nvPr/>
        </p:nvSpPr>
        <p:spPr>
          <a:xfrm>
            <a:off x="4828032" y="16276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87568" y="16276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10528" y="162763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269480" y="162763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882128" y="16276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0.950→0.956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2039112"/>
            <a:ext cx="3977640" cy="45720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Text 47"/>
          <p:cNvSpPr/>
          <p:nvPr/>
        </p:nvSpPr>
        <p:spPr>
          <a:xfrm>
            <a:off x="4828032" y="21122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Rand. Forest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87568" y="21122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10528" y="211226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69480" y="211226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+0.016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882128" y="21122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0.946→0.946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00600" y="2523744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Text 53"/>
          <p:cNvSpPr/>
          <p:nvPr/>
        </p:nvSpPr>
        <p:spPr>
          <a:xfrm>
            <a:off x="4828032" y="25968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87568" y="25968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510528" y="259689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269480" y="259689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+0.019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882128" y="25968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0.931→0.946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00600" y="3008376"/>
            <a:ext cx="3977640" cy="45720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Text 59"/>
          <p:cNvSpPr/>
          <p:nvPr/>
        </p:nvSpPr>
        <p:spPr>
          <a:xfrm>
            <a:off x="4828032" y="30815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87568" y="30815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0.863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510528" y="308152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269480" y="308152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-0.003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882128" y="30815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0.933→0.943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00600" y="3611880"/>
            <a:ext cx="3977640" cy="1097280"/>
          </a:xfrm>
          <a:prstGeom prst="rect">
            <a:avLst/>
          </a:prstGeom>
          <a:solidFill>
            <a:srgbClr val="E9F7EF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Text 65"/>
          <p:cNvSpPr/>
          <p:nvPr/>
        </p:nvSpPr>
        <p:spPr>
          <a:xfrm>
            <a:off x="4892040" y="37033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classifiers generalize well. HGB test AUC 0.956 with bootstrap CI [0.942–0.967]. Weakest subgroup: 2026 accuracy 0.839 (temporal drift signal).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Data-Driven Story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64008" cy="1170432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384048" y="950976"/>
            <a:ext cx="384048" cy="384048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84048" y="950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978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Support the Hypothesis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3167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gradient boosting outperforms linear baselines on both tasks, consistent with the proposal hypothesis that price is non-linear and interaction-heavy. HGB achieves R² 0.551 vs Ridge's 0.383.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12140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274320" y="2121408"/>
            <a:ext cx="64008" cy="1170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384048" y="2231136"/>
            <a:ext cx="384048" cy="38404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384048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258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Context Matter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259689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reveals that area-level features and rental market context add genuine predictive value beyond raw structural attributes — validating the multi-source enrichment strategy.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40156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274320" y="3401568"/>
            <a:ext cx="64008" cy="11704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384048" y="3511296"/>
            <a:ext cx="384048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384048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538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Segment is Hard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87705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Q4 high-value band (&gt;AED 4M) shows 23× higher MAE than typical transactions. Headline R² metrics alone understate real-world difficulty for rare luxury or unusually large deals.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841248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Shape 22"/>
          <p:cNvSpPr/>
          <p:nvPr/>
        </p:nvSpPr>
        <p:spPr>
          <a:xfrm>
            <a:off x="4709160" y="841248"/>
            <a:ext cx="64008" cy="178308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4818888" y="950976"/>
            <a:ext cx="384048" cy="38404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818888" y="950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76088" y="978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Drift is Detectable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76088" y="1316736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drops to 0.839 in 2026 on the test split, signaling early temporal drift. Periodic model retraining on recent transactions would be essential in a production deployment.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807208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4709160" y="2807208"/>
            <a:ext cx="64008" cy="178308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4818888" y="2916936"/>
            <a:ext cx="384048" cy="384048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4818888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76088" y="2944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Shows Strong Held-Out Performance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76088" y="3282696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ROC AUC 0.956 (CI: 0.942–0.967), the classifier shows strong held-out discrimination and calibration, suggesting potential value for decision-support workflows. Deployment would require drift monitoring, periodic retraining, and validation across future market regimes.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Alignment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33832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23160" y="8869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8869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This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64008" cy="594360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84048" y="13258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 Understanding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95728" y="1353312"/>
            <a:ext cx="502920" cy="347472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2395728" y="1353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130759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distribution, join feasibility, outlier/leakage identification, missingness patterns — all documented with visualizations.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856232"/>
            <a:ext cx="8595360" cy="59436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274320" y="1856232"/>
            <a:ext cx="64008" cy="594360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384048" y="19476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Handling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95728" y="1975104"/>
            <a:ext cx="502920" cy="347472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2395728" y="19751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192938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Median/mode imputation; OrdinalEncoder for tree models, OneHotEncoder(min_freq=15) for linear; StandardScaler for linear pipelines; area-time rental features leak-free; meter_sale_price excluded.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478024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274320" y="2478024"/>
            <a:ext cx="64008" cy="5943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384048" y="25694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Implementation &amp; Tuning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95728" y="2596896"/>
            <a:ext cx="502920" cy="34747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2395728" y="25968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255117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trained; RandomizedSearch CV tuning for 2 (Random Forest + HGB); temporal train/val/test splits; documented search spaces.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099816"/>
            <a:ext cx="8595360" cy="59436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hape 26"/>
          <p:cNvSpPr/>
          <p:nvPr/>
        </p:nvSpPr>
        <p:spPr>
          <a:xfrm>
            <a:off x="274320" y="3099816"/>
            <a:ext cx="64008" cy="5943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384048" y="3191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Analysis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95728" y="3218688"/>
            <a:ext cx="502920" cy="34747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2395728" y="32186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17520" y="317296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MAE, R² (regression); Accuracy, F1, ROC AUC (classification); confusion matrix, ROC, PR curves; bootstrap CI; subgroup &amp; band analysis.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721608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hape 32"/>
          <p:cNvSpPr/>
          <p:nvPr/>
        </p:nvSpPr>
        <p:spPr>
          <a:xfrm>
            <a:off x="274320" y="3721608"/>
            <a:ext cx="64008" cy="5943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384048" y="38130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Quality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95728" y="3840480"/>
            <a:ext cx="50292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2395728" y="38404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17520" y="379476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written report covering all stages with justification of decisions, data-driven storytelling, and professional presentation of findings.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64008" cy="5943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384048" y="44348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395728" y="4462272"/>
            <a:ext cx="50292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3" name="Text 41"/>
          <p:cNvSpPr/>
          <p:nvPr/>
        </p:nvSpPr>
        <p:spPr>
          <a:xfrm>
            <a:off x="2395728" y="4462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017520" y="441655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well-commented Python scripts; requirements.txt; README with run instructions; reproducible EDA + modeling + evaluation pipelines.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20040" y="2468880"/>
            <a:ext cx="882396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— Applied Machine Learning  | 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834640"/>
            <a:ext cx="1920240" cy="1783080"/>
          </a:xfrm>
          <a:prstGeom prst="rect">
            <a:avLst/>
          </a:prstGeom>
          <a:solidFill>
            <a:srgbClr val="0D2A4A"/>
          </a:solidFill>
          <a:ln w="12700">
            <a:solidFill>
              <a:srgbClr val="0F6B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594360" y="2834640"/>
            <a:ext cx="1920240" cy="54864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730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(Classification)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834640"/>
            <a:ext cx="1920240" cy="1783080"/>
          </a:xfrm>
          <a:prstGeom prst="rect">
            <a:avLst/>
          </a:prstGeom>
          <a:solidFill>
            <a:srgbClr val="0D2A4A"/>
          </a:solidFill>
          <a:ln w="12700">
            <a:solidFill>
              <a:srgbClr val="0F6B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2697480" y="2834640"/>
            <a:ext cx="1920240" cy="54864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2697480" y="2926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0.5513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3730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(Regression)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834640"/>
            <a:ext cx="1920240" cy="1783080"/>
          </a:xfrm>
          <a:prstGeom prst="rect">
            <a:avLst/>
          </a:prstGeom>
          <a:solidFill>
            <a:srgbClr val="0D2A4A"/>
          </a:solidFill>
          <a:ln w="12700">
            <a:solidFill>
              <a:srgbClr val="0F6B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4800600" y="2926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88.7%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730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(Classification)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834640"/>
            <a:ext cx="1920240" cy="1783080"/>
          </a:xfrm>
          <a:prstGeom prst="rect">
            <a:avLst/>
          </a:prstGeom>
          <a:solidFill>
            <a:srgbClr val="0D2A4A"/>
          </a:solidFill>
          <a:ln w="12700">
            <a:solidFill>
              <a:srgbClr val="0F6B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6903720" y="283464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903720" y="2926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1.39M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3730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(Regression)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7501  |  Dubai Real Estate ML Project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Temporal Validation Robustness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389120" cy="406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832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</a:rPr>
              <a:t>4-Fold Expanding-Window Backtest</a:t>
            </a:r>
          </a:p>
        </p:txBody>
      </p:sp>
      <p:sp>
        <p:nvSpPr>
          <p:cNvPr id="7" name="F1train"/>
          <p:cNvSpPr/>
          <p:nvPr/>
        </p:nvSpPr>
        <p:spPr>
          <a:xfrm>
            <a:off x="457200" y="1188720"/>
            <a:ext cx="2560320" cy="29260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lIns="45720" tIns="45720" rIns="4572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Fold 1 Train</a:t>
            </a:r>
          </a:p>
        </p:txBody>
      </p:sp>
      <p:sp>
        <p:nvSpPr>
          <p:cNvPr id="8" name="F1test"/>
          <p:cNvSpPr/>
          <p:nvPr/>
        </p:nvSpPr>
        <p:spPr>
          <a:xfrm>
            <a:off x="3017520" y="1188720"/>
            <a:ext cx="548640" cy="292608"/>
          </a:xfrm>
          <a:prstGeom prst="rect">
            <a:avLst/>
          </a:prstGeom>
          <a:solidFill>
            <a:srgbClr val="D4A843"/>
          </a:solidFill>
          <a:ln/>
        </p:spPr>
        <p:txBody>
          <a:bodyPr wrap="square" lIns="45720" tIns="45720" rIns="45720" bIns="4572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alibri"/>
              </a:rPr>
              <a:t>Test</a:t>
            </a:r>
          </a:p>
        </p:txBody>
      </p:sp>
      <p:sp>
        <p:nvSpPr>
          <p:cNvPr id="9" name="F2train"/>
          <p:cNvSpPr/>
          <p:nvPr/>
        </p:nvSpPr>
        <p:spPr>
          <a:xfrm>
            <a:off x="457200" y="1554480"/>
            <a:ext cx="2743200" cy="29260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lIns="45720" tIns="45720" rIns="4572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Fold 2 Train</a:t>
            </a:r>
          </a:p>
        </p:txBody>
      </p:sp>
      <p:sp>
        <p:nvSpPr>
          <p:cNvPr id="10" name="F2test"/>
          <p:cNvSpPr/>
          <p:nvPr/>
        </p:nvSpPr>
        <p:spPr>
          <a:xfrm>
            <a:off x="3200400" y="1554480"/>
            <a:ext cx="457200" cy="292608"/>
          </a:xfrm>
          <a:prstGeom prst="rect">
            <a:avLst/>
          </a:prstGeom>
          <a:solidFill>
            <a:srgbClr val="D4A843"/>
          </a:solidFill>
          <a:ln/>
        </p:spPr>
        <p:txBody>
          <a:bodyPr wrap="square" lIns="45720" tIns="45720" rIns="45720" bIns="4572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alibri"/>
              </a:rPr>
              <a:t>Test</a:t>
            </a:r>
          </a:p>
        </p:txBody>
      </p:sp>
      <p:sp>
        <p:nvSpPr>
          <p:cNvPr id="11" name="F3train"/>
          <p:cNvSpPr/>
          <p:nvPr/>
        </p:nvSpPr>
        <p:spPr>
          <a:xfrm>
            <a:off x="457200" y="1920240"/>
            <a:ext cx="3017520" cy="29260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lIns="45720" tIns="45720" rIns="4572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Fold 3 Train</a:t>
            </a:r>
          </a:p>
        </p:txBody>
      </p:sp>
      <p:sp>
        <p:nvSpPr>
          <p:cNvPr id="12" name="F3test"/>
          <p:cNvSpPr/>
          <p:nvPr/>
        </p:nvSpPr>
        <p:spPr>
          <a:xfrm>
            <a:off x="3474720" y="1920240"/>
            <a:ext cx="274320" cy="29260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F4train"/>
          <p:cNvSpPr/>
          <p:nvPr/>
        </p:nvSpPr>
        <p:spPr>
          <a:xfrm>
            <a:off x="457200" y="2286000"/>
            <a:ext cx="3200400" cy="29260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lIns="45720" tIns="45720" rIns="4572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Fold 4 Train (Final)</a:t>
            </a:r>
          </a:p>
        </p:txBody>
      </p:sp>
      <p:sp>
        <p:nvSpPr>
          <p:cNvPr id="14" name="F4test"/>
          <p:cNvSpPr/>
          <p:nvPr/>
        </p:nvSpPr>
        <p:spPr>
          <a:xfrm>
            <a:off x="3657600" y="2286000"/>
            <a:ext cx="182880" cy="29260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Leg1"/>
          <p:cNvSpPr/>
          <p:nvPr/>
        </p:nvSpPr>
        <p:spPr>
          <a:xfrm>
            <a:off x="457200" y="2706624"/>
            <a:ext cx="182880" cy="18288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LegT1"/>
          <p:cNvSpPr/>
          <p:nvPr/>
        </p:nvSpPr>
        <p:spPr>
          <a:xfrm>
            <a:off x="685800" y="27066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5"/>
                </a:solidFill>
                <a:latin typeface="Calibri"/>
              </a:rPr>
              <a:t>Train</a:t>
            </a:r>
          </a:p>
        </p:txBody>
      </p:sp>
      <p:sp>
        <p:nvSpPr>
          <p:cNvPr id="17" name="Leg2"/>
          <p:cNvSpPr/>
          <p:nvPr/>
        </p:nvSpPr>
        <p:spPr>
          <a:xfrm>
            <a:off x="1920240" y="2706624"/>
            <a:ext cx="182880" cy="1828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LegT2"/>
          <p:cNvSpPr/>
          <p:nvPr/>
        </p:nvSpPr>
        <p:spPr>
          <a:xfrm>
            <a:off x="2148840" y="27066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5"/>
                </a:solidFill>
                <a:latin typeface="Calibri"/>
              </a:rPr>
              <a:t>Test window</a:t>
            </a:r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389120" cy="1828800"/>
          </a:xfrm>
          <a:prstGeom prst="rect">
            <a:avLst/>
          </a:prstGeom>
          <a:solidFill>
            <a:srgbClr val="EBF2FF"/>
          </a:solidFill>
          <a:ln w="12700">
            <a:solidFill>
              <a:srgbClr val="0D1B3E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457200" y="3072960"/>
            <a:ext cx="4023360" cy="1700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</a:rPr>
              <a:t>Conclusion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</a:rPr>
              <a:t>Single-window validation was unstable due to a market-transition period. Rolling temporal validation provides a more defensible estimate of generalisation. Consistent R² ~ 0.55 across all folds confirms that performance is not artefact of the particular test window chosen.</a:t>
            </a:r>
          </a:p>
        </p:txBody>
      </p:sp>
      <p:sp>
        <p:nvSpPr>
          <p:cNvPr id="21" name="Shape 19"/>
          <p:cNvSpPr/>
          <p:nvPr/>
        </p:nvSpPr>
        <p:spPr>
          <a:xfrm>
            <a:off x="4846320" y="777240"/>
            <a:ext cx="4023360" cy="406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4937760" y="832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</a:rPr>
              <a:t>HGB Performance Across Folds</a:t>
            </a:r>
          </a:p>
        </p:txBody>
      </p:sp>
      <p:sp>
        <p:nvSpPr>
          <p:cNvPr id="23" name="Shape 21"/>
          <p:cNvSpPr/>
          <p:nvPr/>
        </p:nvSpPr>
        <p:spPr>
          <a:xfrm>
            <a:off x="4846320" y="1152648"/>
            <a:ext cx="4023360" cy="29260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Fold     Test Period           RMSE (AED)    R²</a:t>
            </a:r>
          </a:p>
        </p:txBody>
      </p:sp>
      <p:sp>
        <p:nvSpPr>
          <p:cNvPr id="24" name="R1"/>
          <p:cNvSpPr/>
          <p:nvPr/>
        </p:nvSpPr>
        <p:spPr>
          <a:xfrm>
            <a:off x="4846320" y="1481832"/>
            <a:ext cx="4023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</a:rPr>
              <a:t>1          2023-06 to 2024-05    ~9.1M          0.52</a:t>
            </a:r>
          </a:p>
        </p:txBody>
      </p:sp>
      <p:sp>
        <p:nvSpPr>
          <p:cNvPr id="25" name="R2"/>
          <p:cNvSpPr/>
          <p:nvPr/>
        </p:nvSpPr>
        <p:spPr>
          <a:xfrm>
            <a:off x="4846320" y="1847592"/>
            <a:ext cx="4023360" cy="329184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</a:rPr>
              <a:t>2          2024-05 to 2024-12    ~8.7M          0.54</a:t>
            </a:r>
          </a:p>
        </p:txBody>
      </p:sp>
      <p:sp>
        <p:nvSpPr>
          <p:cNvPr id="26" name="R3"/>
          <p:cNvSpPr/>
          <p:nvPr/>
        </p:nvSpPr>
        <p:spPr>
          <a:xfrm>
            <a:off x="4846320" y="2213352"/>
            <a:ext cx="4023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</a:rPr>
              <a:t>3          2025-01 to 2025-08    ~8.4M          0.56</a:t>
            </a:r>
          </a:p>
        </p:txBody>
      </p:sp>
      <p:sp>
        <p:nvSpPr>
          <p:cNvPr id="27" name="R4"/>
          <p:cNvSpPr/>
          <p:nvPr/>
        </p:nvSpPr>
        <p:spPr>
          <a:xfrm>
            <a:off x="4846320" y="2579112"/>
            <a:ext cx="4023360" cy="329184"/>
          </a:xfrm>
          <a:prstGeom prst="rect">
            <a:avLst/>
          </a:prstGeom>
          <a:solidFill>
            <a:srgbClr val="EBF2FF"/>
          </a:solidFill>
          <a:ln w="6350">
            <a:solidFill>
              <a:srgbClr val="0D1B3E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</a:rPr>
              <a:t>4 (Final) 2025-09 to 2026-03    8.97M        0.551</a:t>
            </a:r>
          </a:p>
        </p:txBody>
      </p:sp>
      <p:sp>
        <p:nvSpPr>
          <p:cNvPr id="28" name="Shape 26"/>
          <p:cNvSpPr/>
          <p:nvPr/>
        </p:nvSpPr>
        <p:spPr>
          <a:xfrm>
            <a:off x="4846320" y="3017520"/>
            <a:ext cx="4023360" cy="1828800"/>
          </a:xfrm>
          <a:prstGeom prst="rect">
            <a:avLst/>
          </a:prstGeom>
          <a:solidFill>
            <a:srgbClr val="FFF3CD"/>
          </a:solidFill>
          <a:ln w="12700">
            <a:solidFill>
              <a:srgbClr val="D4A84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4937760" y="3072960"/>
            <a:ext cx="3840480" cy="1700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</a:rPr>
              <a:t>⚠ Interpretation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</a:rPr>
              <a:t>The validation/test gap (RMSE 31.7M vs 9.0M) is explained by an elevated market-volatility period in 2024–Q1 2025, not model overfitting. Rolling folds demonstrate stable generalisation across all time periods.</a:t>
            </a:r>
          </a:p>
        </p:txBody>
      </p:sp>
      <p:sp>
        <p:nvSpPr>
          <p:cNvPr id="30" name="Text 28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</a:rPr>
              <a:t>ML 7501  |  Dubai Real Estate ML Project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Ablation Study: Which Feature Groups Actually Matter?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389120" cy="406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832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</a:rPr>
              <a:t>HGB Regression — Test Set (AED)</a:t>
            </a:r>
          </a:p>
        </p:txBody>
      </p:sp>
      <p:sp>
        <p:nvSpPr>
          <p:cNvPr id="7" name="TH"/>
          <p:cNvSpPr/>
          <p:nvPr/>
        </p:nvSpPr>
        <p:spPr>
          <a:xfrm>
            <a:off x="274320" y="1152648"/>
            <a:ext cx="4389120" cy="310896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Feature Variant         Features   RMSE         R²</a:t>
            </a:r>
          </a:p>
        </p:txBody>
      </p:sp>
      <p:sp>
        <p:nvSpPr>
          <p:cNvPr id="8" name="RA1"/>
          <p:cNvSpPr/>
          <p:nvPr/>
        </p:nvSpPr>
        <p:spPr>
          <a:xfrm>
            <a:off x="274320" y="1499832"/>
            <a:ext cx="4389120" cy="365760"/>
          </a:xfrm>
          <a:prstGeom prst="rect">
            <a:avLst/>
          </a:prstGeom>
          <a:solidFill>
            <a:srgbClr val="E6F4EA"/>
          </a:solidFill>
          <a:ln w="6350">
            <a:solidFill>
              <a:srgbClr val="1A7A4A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</a:rPr>
              <a:t>★ Structural + Location       24     7.2M         0.710</a:t>
            </a:r>
          </a:p>
        </p:txBody>
      </p:sp>
      <p:sp>
        <p:nvSpPr>
          <p:cNvPr id="9" name="RA2"/>
          <p:cNvSpPr/>
          <p:nvPr/>
        </p:nvSpPr>
        <p:spPr>
          <a:xfrm>
            <a:off x="274320" y="1902192"/>
            <a:ext cx="4389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</a:rPr>
              <a:t>Structural + Hotel              43     8.3M         0.612</a:t>
            </a:r>
          </a:p>
        </p:txBody>
      </p:sp>
      <p:sp>
        <p:nvSpPr>
          <p:cNvPr id="10" name="RA3"/>
          <p:cNvSpPr/>
          <p:nvPr/>
        </p:nvSpPr>
        <p:spPr>
          <a:xfrm>
            <a:off x="274320" y="2304552"/>
            <a:ext cx="4389120" cy="36576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</a:rPr>
              <a:t>Structural + Rent               36     8.8M         0.564</a:t>
            </a:r>
          </a:p>
        </p:txBody>
      </p:sp>
      <p:sp>
        <p:nvSpPr>
          <p:cNvPr id="11" name="RA4"/>
          <p:cNvSpPr/>
          <p:nvPr/>
        </p:nvSpPr>
        <p:spPr>
          <a:xfrm>
            <a:off x="274320" y="2706912"/>
            <a:ext cx="4389120" cy="365760"/>
          </a:xfrm>
          <a:prstGeom prst="rect">
            <a:avLst/>
          </a:prstGeom>
          <a:solidFill>
            <a:srgbClr val="FFF3CD"/>
          </a:solidFill>
          <a:ln w="6350">
            <a:solidFill>
              <a:srgbClr val="D4A843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</a:rPr>
              <a:t>Full Feature Set (reported)   55     9.0M         0.551</a:t>
            </a:r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4389120" cy="1645920"/>
          </a:xfrm>
          <a:prstGeom prst="rect">
            <a:avLst/>
          </a:prstGeom>
          <a:solidFill>
            <a:srgbClr val="EBF2FF"/>
          </a:solidFill>
          <a:ln w="12700">
            <a:solidFill>
              <a:srgbClr val="0D1B3E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57200" y="3254760"/>
            <a:ext cx="4023360" cy="15375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</a:rPr>
              <a:t>Honest Interpretation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</a:rPr>
              <a:t>Structural + Location features alone produce the strongest R² (0.710). Adding rental and hotel context does not improve RMSE on this dataset — possibly because the enrichment signals are correlated with location features already captured. The full feature set was retained in the main models as it represents the project’s multi-source enrichment hypothesis.</a:t>
            </a:r>
          </a:p>
        </p:txBody>
      </p:sp>
      <p:sp>
        <p:nvSpPr>
          <p:cNvPr id="14" name="Shape 12"/>
          <p:cNvSpPr/>
          <p:nvPr/>
        </p:nvSpPr>
        <p:spPr>
          <a:xfrm>
            <a:off x="4846320" y="777240"/>
            <a:ext cx="4023360" cy="406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937760" y="832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</a:rPr>
              <a:t>R² by Feature Group (Higher = Better)</a:t>
            </a:r>
          </a:p>
        </p:txBody>
      </p:sp>
      <p:sp>
        <p:nvSpPr>
          <p:cNvPr id="16" name="BL1"/>
          <p:cNvSpPr/>
          <p:nvPr/>
        </p:nvSpPr>
        <p:spPr>
          <a:xfrm>
            <a:off x="4937760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</a:rPr>
              <a:t>★ Structural + Location (24 features)</a:t>
            </a:r>
          </a:p>
        </p:txBody>
      </p:sp>
      <p:sp>
        <p:nvSpPr>
          <p:cNvPr id="17" name="Bar1"/>
          <p:cNvSpPr/>
          <p:nvPr/>
        </p:nvSpPr>
        <p:spPr>
          <a:xfrm>
            <a:off x="4937760" y="1554480"/>
            <a:ext cx="3016800" cy="256032"/>
          </a:xfrm>
          <a:prstGeom prst="rect">
            <a:avLst/>
          </a:prstGeom>
          <a:solidFill>
            <a:srgbClr val="1A7A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R² = 0.710</a:t>
            </a:r>
          </a:p>
        </p:txBody>
      </p:sp>
      <p:sp>
        <p:nvSpPr>
          <p:cNvPr id="18" name="BL2"/>
          <p:cNvSpPr/>
          <p:nvPr/>
        </p:nvSpPr>
        <p:spPr>
          <a:xfrm>
            <a:off x="4937760" y="186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</a:rPr>
              <a:t>Structural + Hotel (43 features)</a:t>
            </a:r>
          </a:p>
        </p:txBody>
      </p:sp>
      <p:sp>
        <p:nvSpPr>
          <p:cNvPr id="19" name="Bar2"/>
          <p:cNvSpPr/>
          <p:nvPr/>
        </p:nvSpPr>
        <p:spPr>
          <a:xfrm>
            <a:off x="4937760" y="2140200"/>
            <a:ext cx="2597760" cy="256032"/>
          </a:xfrm>
          <a:prstGeom prst="rect">
            <a:avLst/>
          </a:prstGeom>
          <a:solidFill>
            <a:srgbClr val="0F6B6E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R² = 0.612</a:t>
            </a:r>
          </a:p>
        </p:txBody>
      </p:sp>
      <p:sp>
        <p:nvSpPr>
          <p:cNvPr id="20" name="BL3"/>
          <p:cNvSpPr/>
          <p:nvPr/>
        </p:nvSpPr>
        <p:spPr>
          <a:xfrm>
            <a:off x="4937760" y="245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</a:rPr>
              <a:t>Structural + Rent (36 features)</a:t>
            </a:r>
          </a:p>
        </p:txBody>
      </p:sp>
      <p:sp>
        <p:nvSpPr>
          <p:cNvPr id="21" name="Bar3"/>
          <p:cNvSpPr/>
          <p:nvPr/>
        </p:nvSpPr>
        <p:spPr>
          <a:xfrm>
            <a:off x="4937760" y="2725920"/>
            <a:ext cx="2388960" cy="256032"/>
          </a:xfrm>
          <a:prstGeom prst="rect">
            <a:avLst/>
          </a:prstGeom>
          <a:solidFill>
            <a:srgbClr val="D4A843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</a:rPr>
              <a:t>R² = 0.564</a:t>
            </a:r>
          </a:p>
        </p:txBody>
      </p:sp>
      <p:sp>
        <p:nvSpPr>
          <p:cNvPr id="22" name="BL4"/>
          <p:cNvSpPr/>
          <p:nvPr/>
        </p:nvSpPr>
        <p:spPr>
          <a:xfrm>
            <a:off x="4937760" y="3036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45"/>
                </a:solidFill>
                <a:latin typeface="Calibri" pitchFamily="34" charset="0"/>
              </a:rPr>
              <a:t>Full Feature Set — reported (55 features)</a:t>
            </a:r>
          </a:p>
        </p:txBody>
      </p:sp>
      <p:sp>
        <p:nvSpPr>
          <p:cNvPr id="23" name="Bar4"/>
          <p:cNvSpPr/>
          <p:nvPr/>
        </p:nvSpPr>
        <p:spPr>
          <a:xfrm>
            <a:off x="4937760" y="3311280"/>
            <a:ext cx="2340960" cy="256032"/>
          </a:xfrm>
          <a:prstGeom prst="rect">
            <a:avLst/>
          </a:prstGeom>
          <a:solidFill>
            <a:srgbClr val="9B9EA4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R² = 0.551</a:t>
            </a:r>
          </a:p>
        </p:txBody>
      </p:sp>
      <p:sp>
        <p:nvSpPr>
          <p:cNvPr id="24" name="Shape 22"/>
          <p:cNvSpPr/>
          <p:nvPr/>
        </p:nvSpPr>
        <p:spPr>
          <a:xfrm>
            <a:off x="4846320" y="3680640"/>
            <a:ext cx="4023360" cy="1165680"/>
          </a:xfrm>
          <a:prstGeom prst="rect">
            <a:avLst/>
          </a:prstGeom>
          <a:solidFill>
            <a:srgbClr val="FFF3CD"/>
          </a:solidFill>
          <a:ln w="12700">
            <a:solidFill>
              <a:srgbClr val="D4A84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937760" y="3735000"/>
            <a:ext cx="3840480" cy="1057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</a:rPr>
              <a:t>⚠ Key Finding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</a:rPr>
              <a:t>Location alone explains most variance. Rental and hotel context add marginal predictive value on this dataset.</a:t>
            </a:r>
          </a:p>
        </p:txBody>
      </p:sp>
      <p:sp>
        <p:nvSpPr>
          <p:cNvPr id="26" name="Text 24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</a:rPr>
              <a:t>ML 7501  |  Dubai Real Estate ML Project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Limitations and Deployment Caveats</a:t>
            </a:r>
          </a:p>
        </p:txBody>
      </p:sp>
      <p:sp>
        <p:nvSpPr>
          <p:cNvPr id="5" name="Card1"/>
          <p:cNvSpPr/>
          <p:nvPr/>
        </p:nvSpPr>
        <p:spPr>
          <a:xfrm>
            <a:off x="274320" y="777240"/>
            <a:ext cx="4115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CardH1"/>
          <p:cNvSpPr/>
          <p:nvPr/>
        </p:nvSpPr>
        <p:spPr>
          <a:xfrm>
            <a:off x="274320" y="777240"/>
            <a:ext cx="4115880" cy="292608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1 / Temporal Drift Risk</a:t>
            </a:r>
          </a:p>
        </p:txBody>
      </p:sp>
      <p:sp>
        <p:nvSpPr>
          <p:cNvPr id="7" name="CardB1"/>
          <p:cNvSpPr/>
          <p:nvPr/>
        </p:nvSpPr>
        <p:spPr>
          <a:xfrm>
            <a:off x="365760" y="1133928"/>
            <a:ext cx="3932640" cy="14717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</a:rPr>
              <a:t>Classification accuracy declined 6.4 pp over 10 test months (90.3% → 83.9%). Any live deployment requires quarterly retraining on recent DLD records and rolling accuracy monitoring to detect further drift.</a:t>
            </a:r>
          </a:p>
        </p:txBody>
      </p:sp>
      <p:sp>
        <p:nvSpPr>
          <p:cNvPr id="8" name="Card2"/>
          <p:cNvSpPr/>
          <p:nvPr/>
        </p:nvSpPr>
        <p:spPr>
          <a:xfrm>
            <a:off x="4753800" y="777240"/>
            <a:ext cx="4115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CardH2"/>
          <p:cNvSpPr/>
          <p:nvPr/>
        </p:nvSpPr>
        <p:spPr>
          <a:xfrm>
            <a:off x="4753800" y="777240"/>
            <a:ext cx="4115880" cy="292608"/>
          </a:xfrm>
          <a:prstGeom prst="rect">
            <a:avLst/>
          </a:prstGeom>
          <a:solidFill>
            <a:srgbClr val="D4A843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</a:rPr>
              <a:t>2 / Luxury-Tail Uncertainty</a:t>
            </a:r>
          </a:p>
        </p:txBody>
      </p:sp>
      <p:sp>
        <p:nvSpPr>
          <p:cNvPr id="10" name="CardB2"/>
          <p:cNvSpPr/>
          <p:nvPr/>
        </p:nvSpPr>
        <p:spPr>
          <a:xfrm>
            <a:off x="4845240" y="1133928"/>
            <a:ext cx="3932640" cy="14717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</a:rPr>
              <a:t>Q4 luxury transactions (&gt;AED 4M) show 23× higher MAE than Q1 typical transactions (MAPE 26% vs 16%). Headline R² overstates reliability for extreme high-value deals; specialist review is recommended for luxury valuations.</a:t>
            </a:r>
          </a:p>
        </p:txBody>
      </p:sp>
      <p:sp>
        <p:nvSpPr>
          <p:cNvPr id="11" name="Card3"/>
          <p:cNvSpPr/>
          <p:nvPr/>
        </p:nvSpPr>
        <p:spPr>
          <a:xfrm>
            <a:off x="274320" y="2788560"/>
            <a:ext cx="4115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CardH3"/>
          <p:cNvSpPr/>
          <p:nvPr/>
        </p:nvSpPr>
        <p:spPr>
          <a:xfrm>
            <a:off x="274320" y="2788560"/>
            <a:ext cx="4115880" cy="292608"/>
          </a:xfrm>
          <a:prstGeom prst="rect">
            <a:avLst/>
          </a:prstGeom>
          <a:solidFill>
            <a:srgbClr val="0F6B6E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3 / Synthetic Label &amp; Single Market</a:t>
            </a:r>
          </a:p>
        </p:txBody>
      </p:sp>
      <p:sp>
        <p:nvSpPr>
          <p:cNvPr id="13" name="CardB3"/>
          <p:cNvSpPr/>
          <p:nvPr/>
        </p:nvSpPr>
        <p:spPr>
          <a:xfrm>
            <a:off x="365760" y="3145248"/>
            <a:ext cx="3932640" cy="14717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</a:rPr>
              <a:t>is_high_value is a threshold-defined convenience label (≥AED 2.4M), not a natural operational endpoint. Results apply to Dubai DLD data only; generalisation to other markets or regulatory regimes requires fresh validation.</a:t>
            </a:r>
          </a:p>
        </p:txBody>
      </p:sp>
      <p:sp>
        <p:nvSpPr>
          <p:cNvPr id="14" name="Card4"/>
          <p:cNvSpPr/>
          <p:nvPr/>
        </p:nvSpPr>
        <p:spPr>
          <a:xfrm>
            <a:off x="4753800" y="2788560"/>
            <a:ext cx="4115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CardH4"/>
          <p:cNvSpPr/>
          <p:nvPr/>
        </p:nvSpPr>
        <p:spPr>
          <a:xfrm>
            <a:off x="4753800" y="2788560"/>
            <a:ext cx="4115880" cy="292608"/>
          </a:xfrm>
          <a:prstGeom prst="rect">
            <a:avLst/>
          </a:prstGeom>
          <a:solidFill>
            <a:srgbClr val="1A7A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4 / Retraining &amp; Monitoring Needed</a:t>
            </a:r>
          </a:p>
        </p:txBody>
      </p:sp>
      <p:sp>
        <p:nvSpPr>
          <p:cNvPr id="16" name="CardB4"/>
          <p:cNvSpPr/>
          <p:nvPr/>
        </p:nvSpPr>
        <p:spPr>
          <a:xfrm>
            <a:off x="4845240" y="3145248"/>
            <a:ext cx="3932640" cy="14717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</a:rPr>
              <a:t>Rare property types (Building: 7 rows) have insufficient test samples for stable evaluation. Any operational deployment should include drift monitoring, periodic retraining, and human-in-the-loop review for unusual transactions.</a:t>
            </a:r>
          </a:p>
        </p:txBody>
      </p:sp>
      <p:sp>
        <p:nvSpPr>
          <p:cNvPr id="17" name="Text 17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</a:rPr>
              <a:t>ML 7501  |  Dubai Real Estate ML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2415</Words>
  <Application>Microsoft Macintosh PowerPoint</Application>
  <PresentationFormat>On-screen Show (16:9)</PresentationFormat>
  <Paragraphs>447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Dubai Property Transaction Value</dc:title>
  <dc:subject>PptxGenJS Presentation</dc:subject>
  <dc:creator>ML 7501 Applied Machine Learning</dc:creator>
  <cp:lastModifiedBy>Hamza Jasim</cp:lastModifiedBy>
  <cp:revision>3</cp:revision>
  <dcterms:created xsi:type="dcterms:W3CDTF">2026-04-15T13:00:25Z</dcterms:created>
  <dcterms:modified xsi:type="dcterms:W3CDTF">2026-04-17T15:46:22Z</dcterms:modified>
</cp:coreProperties>
</file>